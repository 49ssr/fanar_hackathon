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71" r:id="rId2"/>
    <p:sldId id="270" r:id="rId3"/>
    <p:sldId id="272" r:id="rId4"/>
    <p:sldId id="273" r:id="rId5"/>
  </p:sldIdLst>
  <p:sldSz cx="18288000" cy="10287000"/>
  <p:notesSz cx="6858000" cy="9144000"/>
  <p:embeddedFontLst>
    <p:embeddedFont>
      <p:font typeface="Poppins Heavy" pitchFamily="2" charset="77"/>
      <p:regular r:id="rId7"/>
      <p:bold r:id="rId8"/>
    </p:embeddedFont>
    <p:embeddedFont>
      <p:font typeface="Ramis Arabic TRIAL Medium" pitchFamily="2" charset="-78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84" autoAdjust="0"/>
    <p:restoredTop sz="89944" autoAdjust="0"/>
  </p:normalViewPr>
  <p:slideViewPr>
    <p:cSldViewPr>
      <p:cViewPr>
        <p:scale>
          <a:sx n="38" d="100"/>
          <a:sy n="38" d="100"/>
        </p:scale>
        <p:origin x="2896" y="19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Q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67539-77DE-7B49-A5FF-F3E0833099C2}" type="datetimeFigureOut">
              <a:rPr lang="en-QA" smtClean="0"/>
              <a:t>27/06/2026</a:t>
            </a:fld>
            <a:endParaRPr lang="en-Q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Q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Q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Q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D63F9-DE81-5945-8648-7E257368C8BA}" type="slidenum">
              <a:rPr lang="en-QA" smtClean="0"/>
              <a:t>‹#›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426252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Q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D63F9-DE81-5945-8648-7E257368C8BA}" type="slidenum">
              <a:rPr lang="en-QA" smtClean="0"/>
              <a:t>4</a:t>
            </a:fld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1746694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0090-9C08-90F1-8D1D-8BF78256F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uble Wave 8">
            <a:extLst>
              <a:ext uri="{FF2B5EF4-FFF2-40B4-BE49-F238E27FC236}">
                <a16:creationId xmlns:a16="http://schemas.microsoft.com/office/drawing/2014/main" id="{F88E1AC8-D794-72AF-F0BF-29D8EFFF9CDB}"/>
              </a:ext>
            </a:extLst>
          </p:cNvPr>
          <p:cNvSpPr>
            <a:spLocks/>
          </p:cNvSpPr>
          <p:nvPr/>
        </p:nvSpPr>
        <p:spPr>
          <a:xfrm rot="10800000">
            <a:off x="11514838" y="8162553"/>
            <a:ext cx="16554446" cy="5820146"/>
          </a:xfrm>
          <a:prstGeom prst="doubleWav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10" name="Double Wave 9">
            <a:extLst>
              <a:ext uri="{FF2B5EF4-FFF2-40B4-BE49-F238E27FC236}">
                <a16:creationId xmlns:a16="http://schemas.microsoft.com/office/drawing/2014/main" id="{7FA9E775-29F2-D453-CB04-F1BEB0CFC9BC}"/>
              </a:ext>
            </a:extLst>
          </p:cNvPr>
          <p:cNvSpPr/>
          <p:nvPr/>
        </p:nvSpPr>
        <p:spPr>
          <a:xfrm rot="10800000">
            <a:off x="13735046" y="8104577"/>
            <a:ext cx="13963646" cy="5820146"/>
          </a:xfrm>
          <a:prstGeom prst="doubleWav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8" name="Double Wave 7">
            <a:extLst>
              <a:ext uri="{FF2B5EF4-FFF2-40B4-BE49-F238E27FC236}">
                <a16:creationId xmlns:a16="http://schemas.microsoft.com/office/drawing/2014/main" id="{8EAE04B6-CCE9-4545-1384-27CD24901154}"/>
              </a:ext>
            </a:extLst>
          </p:cNvPr>
          <p:cNvSpPr>
            <a:spLocks/>
          </p:cNvSpPr>
          <p:nvPr/>
        </p:nvSpPr>
        <p:spPr>
          <a:xfrm rot="10800000">
            <a:off x="-4895846" y="8078599"/>
            <a:ext cx="16554446" cy="5820146"/>
          </a:xfrm>
          <a:prstGeom prst="doubleWav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7" name="Double Wave 6">
            <a:extLst>
              <a:ext uri="{FF2B5EF4-FFF2-40B4-BE49-F238E27FC236}">
                <a16:creationId xmlns:a16="http://schemas.microsoft.com/office/drawing/2014/main" id="{EEB67A4D-99B0-F3D5-3FE0-4CF6E4200F82}"/>
              </a:ext>
            </a:extLst>
          </p:cNvPr>
          <p:cNvSpPr/>
          <p:nvPr/>
        </p:nvSpPr>
        <p:spPr>
          <a:xfrm rot="10800000">
            <a:off x="-190500" y="8139612"/>
            <a:ext cx="13963646" cy="5820146"/>
          </a:xfrm>
          <a:prstGeom prst="doubleWav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6" name="Double Wave 5">
            <a:extLst>
              <a:ext uri="{FF2B5EF4-FFF2-40B4-BE49-F238E27FC236}">
                <a16:creationId xmlns:a16="http://schemas.microsoft.com/office/drawing/2014/main" id="{9728D73E-3837-2C02-271C-A17D2B78313C}"/>
              </a:ext>
            </a:extLst>
          </p:cNvPr>
          <p:cNvSpPr/>
          <p:nvPr/>
        </p:nvSpPr>
        <p:spPr>
          <a:xfrm rot="10800000">
            <a:off x="-3195072" y="9376364"/>
            <a:ext cx="22154898" cy="5820146"/>
          </a:xfrm>
          <a:prstGeom prst="doubleWav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5" name="Double Wave 4">
            <a:extLst>
              <a:ext uri="{FF2B5EF4-FFF2-40B4-BE49-F238E27FC236}">
                <a16:creationId xmlns:a16="http://schemas.microsoft.com/office/drawing/2014/main" id="{2C1772C7-79F7-0C31-F705-E62C2D2CDEEC}"/>
              </a:ext>
            </a:extLst>
          </p:cNvPr>
          <p:cNvSpPr/>
          <p:nvPr/>
        </p:nvSpPr>
        <p:spPr>
          <a:xfrm rot="10800000">
            <a:off x="-1189991" y="9838953"/>
            <a:ext cx="22154898" cy="5820146"/>
          </a:xfrm>
          <a:prstGeom prst="doubleWav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35B38D-1C2D-81BC-CBDD-164ABC9DB6FE}"/>
              </a:ext>
            </a:extLst>
          </p:cNvPr>
          <p:cNvSpPr txBox="1"/>
          <p:nvPr/>
        </p:nvSpPr>
        <p:spPr>
          <a:xfrm>
            <a:off x="3431458" y="6053792"/>
            <a:ext cx="85540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9900">
                <a:gradFill>
                  <a:gsLst>
                    <a:gs pos="85000">
                      <a:schemeClr val="bg1">
                        <a:lumMod val="85000"/>
                      </a:schemeClr>
                    </a:gs>
                    <a:gs pos="34000">
                      <a:schemeClr val="accent1">
                        <a:lumMod val="5000"/>
                        <a:lumOff val="95000"/>
                      </a:schemeClr>
                    </a:gs>
                    <a:gs pos="70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latin typeface="Ramis Arabic TRIAL Medium" pitchFamily="2" charset="-78"/>
                <a:cs typeface="Ramis Arabic TRIAL Medium" pitchFamily="2" charset="-78"/>
              </a:defRPr>
            </a:lvl1pPr>
          </a:lstStyle>
          <a:p>
            <a:r>
              <a:rPr lang="en-US" sz="6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Qaarib</a:t>
            </a:r>
            <a:endParaRPr lang="en-US" sz="6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6DEF3A-13AF-C6F4-1FDF-4EB7B45ECD71}"/>
              </a:ext>
            </a:extLst>
          </p:cNvPr>
          <p:cNvSpPr txBox="1"/>
          <p:nvPr/>
        </p:nvSpPr>
        <p:spPr>
          <a:xfrm>
            <a:off x="3657600" y="3299192"/>
            <a:ext cx="8554064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QA" sz="23900" dirty="0">
                <a:solidFill>
                  <a:schemeClr val="tx2">
                    <a:lumMod val="40000"/>
                    <a:lumOff val="60000"/>
                  </a:schemeClr>
                </a:solidFill>
                <a:latin typeface="Ramis Arabic TRIAL Medium" pitchFamily="2" charset="-78"/>
                <a:cs typeface="Ramis Arabic TRIAL Medium" pitchFamily="2" charset="-78"/>
              </a:rPr>
              <a:t>قارب</a:t>
            </a:r>
            <a:endParaRPr lang="en-US" sz="23900" dirty="0">
              <a:solidFill>
                <a:schemeClr val="tx2">
                  <a:lumMod val="40000"/>
                  <a:lumOff val="60000"/>
                </a:schemeClr>
              </a:solidFill>
              <a:latin typeface="Ramis Arabic TRIAL Medium" pitchFamily="2" charset="-78"/>
              <a:cs typeface="Ramis Arabic TRIAL Medi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63223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D05A5-E551-7AF5-A1E9-529C8947F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>
            <a:extLst>
              <a:ext uri="{FF2B5EF4-FFF2-40B4-BE49-F238E27FC236}">
                <a16:creationId xmlns:a16="http://schemas.microsoft.com/office/drawing/2014/main" id="{11C3B1AF-D85E-592D-99D3-4CD0E3976209}"/>
              </a:ext>
            </a:extLst>
          </p:cNvPr>
          <p:cNvSpPr/>
          <p:nvPr/>
        </p:nvSpPr>
        <p:spPr>
          <a:xfrm>
            <a:off x="15697200" y="-876300"/>
            <a:ext cx="2971800" cy="2514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9121AB1-6CF8-389F-F8DE-BF0F1EDE6B30}"/>
              </a:ext>
            </a:extLst>
          </p:cNvPr>
          <p:cNvSpPr/>
          <p:nvPr/>
        </p:nvSpPr>
        <p:spPr>
          <a:xfrm>
            <a:off x="-1430020" y="-1389380"/>
            <a:ext cx="3886200" cy="367538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3CD6077-B91D-666E-FD6E-36A5F3B1D156}"/>
              </a:ext>
            </a:extLst>
          </p:cNvPr>
          <p:cNvSpPr/>
          <p:nvPr/>
        </p:nvSpPr>
        <p:spPr>
          <a:xfrm>
            <a:off x="-1734820" y="-1676400"/>
            <a:ext cx="3886200" cy="36753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A6F961D-3C41-3B9C-0182-AD87F22378F3}"/>
              </a:ext>
            </a:extLst>
          </p:cNvPr>
          <p:cNvSpPr/>
          <p:nvPr/>
        </p:nvSpPr>
        <p:spPr>
          <a:xfrm>
            <a:off x="-2039620" y="-1951990"/>
            <a:ext cx="3886200" cy="367538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DC63B4-4181-94D1-FA80-BA42589E2D84}"/>
              </a:ext>
            </a:extLst>
          </p:cNvPr>
          <p:cNvSpPr/>
          <p:nvPr/>
        </p:nvSpPr>
        <p:spPr>
          <a:xfrm>
            <a:off x="-2209800" y="-2199640"/>
            <a:ext cx="3886200" cy="36753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3" name="Wave 52">
            <a:extLst>
              <a:ext uri="{FF2B5EF4-FFF2-40B4-BE49-F238E27FC236}">
                <a16:creationId xmlns:a16="http://schemas.microsoft.com/office/drawing/2014/main" id="{BB6E715D-9C3A-21CD-2BBA-71CA80C0C3D8}"/>
              </a:ext>
            </a:extLst>
          </p:cNvPr>
          <p:cNvSpPr/>
          <p:nvPr/>
        </p:nvSpPr>
        <p:spPr>
          <a:xfrm rot="2040938">
            <a:off x="-2079073" y="7888464"/>
            <a:ext cx="5336452" cy="5461445"/>
          </a:xfrm>
          <a:prstGeom prst="wav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4" name="Wave 53">
            <a:extLst>
              <a:ext uri="{FF2B5EF4-FFF2-40B4-BE49-F238E27FC236}">
                <a16:creationId xmlns:a16="http://schemas.microsoft.com/office/drawing/2014/main" id="{D7C5E084-5313-9271-F432-8FD9323BE0DD}"/>
              </a:ext>
            </a:extLst>
          </p:cNvPr>
          <p:cNvSpPr/>
          <p:nvPr/>
        </p:nvSpPr>
        <p:spPr>
          <a:xfrm rot="2040938">
            <a:off x="-2249127" y="8136114"/>
            <a:ext cx="5336452" cy="5461445"/>
          </a:xfrm>
          <a:prstGeom prst="wav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5" name="Wave 54">
            <a:extLst>
              <a:ext uri="{FF2B5EF4-FFF2-40B4-BE49-F238E27FC236}">
                <a16:creationId xmlns:a16="http://schemas.microsoft.com/office/drawing/2014/main" id="{92C15D9B-3C62-99EB-052F-005E26ED066D}"/>
              </a:ext>
            </a:extLst>
          </p:cNvPr>
          <p:cNvSpPr/>
          <p:nvPr/>
        </p:nvSpPr>
        <p:spPr>
          <a:xfrm rot="2040938">
            <a:off x="-2419307" y="8411703"/>
            <a:ext cx="5336452" cy="5461445"/>
          </a:xfrm>
          <a:prstGeom prst="wav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6" name="Double Wave 55">
            <a:extLst>
              <a:ext uri="{FF2B5EF4-FFF2-40B4-BE49-F238E27FC236}">
                <a16:creationId xmlns:a16="http://schemas.microsoft.com/office/drawing/2014/main" id="{98220AEA-CCE4-7719-7442-5D883746DAF6}"/>
              </a:ext>
            </a:extLst>
          </p:cNvPr>
          <p:cNvSpPr/>
          <p:nvPr/>
        </p:nvSpPr>
        <p:spPr>
          <a:xfrm rot="19318177">
            <a:off x="13137021" y="7709113"/>
            <a:ext cx="8092156" cy="5820146"/>
          </a:xfrm>
          <a:prstGeom prst="doubleWav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7" name="Double Wave 56">
            <a:extLst>
              <a:ext uri="{FF2B5EF4-FFF2-40B4-BE49-F238E27FC236}">
                <a16:creationId xmlns:a16="http://schemas.microsoft.com/office/drawing/2014/main" id="{50FE0328-B7FA-AD80-44D0-ADDA32749BA1}"/>
              </a:ext>
            </a:extLst>
          </p:cNvPr>
          <p:cNvSpPr/>
          <p:nvPr/>
        </p:nvSpPr>
        <p:spPr>
          <a:xfrm rot="19318177">
            <a:off x="13289421" y="7861513"/>
            <a:ext cx="8092156" cy="5820146"/>
          </a:xfrm>
          <a:prstGeom prst="doubleWav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8" name="Double Wave 57">
            <a:extLst>
              <a:ext uri="{FF2B5EF4-FFF2-40B4-BE49-F238E27FC236}">
                <a16:creationId xmlns:a16="http://schemas.microsoft.com/office/drawing/2014/main" id="{6FC8A724-6FD9-3668-88F4-26F1A7D333DF}"/>
              </a:ext>
            </a:extLst>
          </p:cNvPr>
          <p:cNvSpPr/>
          <p:nvPr/>
        </p:nvSpPr>
        <p:spPr>
          <a:xfrm rot="19318177">
            <a:off x="13441821" y="8013913"/>
            <a:ext cx="8092156" cy="5820146"/>
          </a:xfrm>
          <a:prstGeom prst="doubleWav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9" name="Double Wave 58">
            <a:extLst>
              <a:ext uri="{FF2B5EF4-FFF2-40B4-BE49-F238E27FC236}">
                <a16:creationId xmlns:a16="http://schemas.microsoft.com/office/drawing/2014/main" id="{57773B90-707B-1D04-26D8-F38F518FD50B}"/>
              </a:ext>
            </a:extLst>
          </p:cNvPr>
          <p:cNvSpPr/>
          <p:nvPr/>
        </p:nvSpPr>
        <p:spPr>
          <a:xfrm rot="19318177">
            <a:off x="13594221" y="8166313"/>
            <a:ext cx="8092156" cy="5820146"/>
          </a:xfrm>
          <a:prstGeom prst="doubleWav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60" name="Double Wave 59">
            <a:extLst>
              <a:ext uri="{FF2B5EF4-FFF2-40B4-BE49-F238E27FC236}">
                <a16:creationId xmlns:a16="http://schemas.microsoft.com/office/drawing/2014/main" id="{009B9E8F-8385-9038-E2C2-2D4B2E0CE3D8}"/>
              </a:ext>
            </a:extLst>
          </p:cNvPr>
          <p:cNvSpPr/>
          <p:nvPr/>
        </p:nvSpPr>
        <p:spPr>
          <a:xfrm rot="19318177">
            <a:off x="13746621" y="8318713"/>
            <a:ext cx="8092156" cy="5820146"/>
          </a:xfrm>
          <a:prstGeom prst="doubleWav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61" name="TextBox 5">
            <a:extLst>
              <a:ext uri="{FF2B5EF4-FFF2-40B4-BE49-F238E27FC236}">
                <a16:creationId xmlns:a16="http://schemas.microsoft.com/office/drawing/2014/main" id="{37F09C0A-0FFD-606B-EECB-A23B80DD7865}"/>
              </a:ext>
            </a:extLst>
          </p:cNvPr>
          <p:cNvSpPr txBox="1"/>
          <p:nvPr/>
        </p:nvSpPr>
        <p:spPr>
          <a:xfrm>
            <a:off x="1295400" y="2438400"/>
            <a:ext cx="156972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2000" b="1" spc="-150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What’s  happening in Doha this weekend?</a:t>
            </a:r>
          </a:p>
        </p:txBody>
      </p:sp>
    </p:spTree>
    <p:extLst>
      <p:ext uri="{BB962C8B-B14F-4D97-AF65-F5344CB8AC3E}">
        <p14:creationId xmlns:p14="http://schemas.microsoft.com/office/powerpoint/2010/main" val="3685490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81A6-90B0-141D-026E-CC0AB1F6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>
            <a:extLst>
              <a:ext uri="{FF2B5EF4-FFF2-40B4-BE49-F238E27FC236}">
                <a16:creationId xmlns:a16="http://schemas.microsoft.com/office/drawing/2014/main" id="{AFC7A0B0-F26C-591D-FD34-64A15EBAC455}"/>
              </a:ext>
            </a:extLst>
          </p:cNvPr>
          <p:cNvSpPr/>
          <p:nvPr/>
        </p:nvSpPr>
        <p:spPr>
          <a:xfrm>
            <a:off x="-1485900" y="-1257300"/>
            <a:ext cx="2971800" cy="2514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7B7AFAB-3AE9-EB6F-7C4A-B684C0A8DF7D}"/>
              </a:ext>
            </a:extLst>
          </p:cNvPr>
          <p:cNvSpPr/>
          <p:nvPr/>
        </p:nvSpPr>
        <p:spPr>
          <a:xfrm>
            <a:off x="16172180" y="-2079390"/>
            <a:ext cx="3886200" cy="367538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0A936E8-48AC-EA9A-01F1-B9767D72E76F}"/>
              </a:ext>
            </a:extLst>
          </p:cNvPr>
          <p:cNvSpPr/>
          <p:nvPr/>
        </p:nvSpPr>
        <p:spPr>
          <a:xfrm>
            <a:off x="15867380" y="-2366410"/>
            <a:ext cx="3886200" cy="36753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2F76709-2D6D-8A22-7BD2-8611B5773FD8}"/>
              </a:ext>
            </a:extLst>
          </p:cNvPr>
          <p:cNvSpPr/>
          <p:nvPr/>
        </p:nvSpPr>
        <p:spPr>
          <a:xfrm>
            <a:off x="15562580" y="-2642000"/>
            <a:ext cx="3886200" cy="367538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CC8AB80-F337-5630-8114-8C9B99FAC6CB}"/>
              </a:ext>
            </a:extLst>
          </p:cNvPr>
          <p:cNvSpPr/>
          <p:nvPr/>
        </p:nvSpPr>
        <p:spPr>
          <a:xfrm>
            <a:off x="15392400" y="-2889650"/>
            <a:ext cx="3886200" cy="36753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3" name="Wave 52">
            <a:extLst>
              <a:ext uri="{FF2B5EF4-FFF2-40B4-BE49-F238E27FC236}">
                <a16:creationId xmlns:a16="http://schemas.microsoft.com/office/drawing/2014/main" id="{B65CC322-2A0E-4A3E-CB04-A9B0CF21BA02}"/>
              </a:ext>
            </a:extLst>
          </p:cNvPr>
          <p:cNvSpPr/>
          <p:nvPr/>
        </p:nvSpPr>
        <p:spPr>
          <a:xfrm rot="2040938">
            <a:off x="-2079073" y="7888464"/>
            <a:ext cx="5336452" cy="5461445"/>
          </a:xfrm>
          <a:prstGeom prst="wav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4" name="Wave 53">
            <a:extLst>
              <a:ext uri="{FF2B5EF4-FFF2-40B4-BE49-F238E27FC236}">
                <a16:creationId xmlns:a16="http://schemas.microsoft.com/office/drawing/2014/main" id="{AE5D3FCC-0E14-A5D3-4242-37ED9A00DEB5}"/>
              </a:ext>
            </a:extLst>
          </p:cNvPr>
          <p:cNvSpPr/>
          <p:nvPr/>
        </p:nvSpPr>
        <p:spPr>
          <a:xfrm rot="2040938">
            <a:off x="-2249127" y="8136114"/>
            <a:ext cx="5336452" cy="5461445"/>
          </a:xfrm>
          <a:prstGeom prst="wav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5" name="Wave 54">
            <a:extLst>
              <a:ext uri="{FF2B5EF4-FFF2-40B4-BE49-F238E27FC236}">
                <a16:creationId xmlns:a16="http://schemas.microsoft.com/office/drawing/2014/main" id="{9FC2B844-8A7B-DDFA-0D30-FD6E8CACD258}"/>
              </a:ext>
            </a:extLst>
          </p:cNvPr>
          <p:cNvSpPr/>
          <p:nvPr/>
        </p:nvSpPr>
        <p:spPr>
          <a:xfrm rot="2040938">
            <a:off x="-2419307" y="8411703"/>
            <a:ext cx="5336452" cy="5461445"/>
          </a:xfrm>
          <a:prstGeom prst="wav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6" name="Double Wave 55">
            <a:extLst>
              <a:ext uri="{FF2B5EF4-FFF2-40B4-BE49-F238E27FC236}">
                <a16:creationId xmlns:a16="http://schemas.microsoft.com/office/drawing/2014/main" id="{10C7000A-AB5E-0BC3-FCE3-FEFDD18C3902}"/>
              </a:ext>
            </a:extLst>
          </p:cNvPr>
          <p:cNvSpPr/>
          <p:nvPr/>
        </p:nvSpPr>
        <p:spPr>
          <a:xfrm rot="20142416">
            <a:off x="13029671" y="8755109"/>
            <a:ext cx="8092156" cy="5820146"/>
          </a:xfrm>
          <a:prstGeom prst="doubleWav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7" name="Double Wave 56">
            <a:extLst>
              <a:ext uri="{FF2B5EF4-FFF2-40B4-BE49-F238E27FC236}">
                <a16:creationId xmlns:a16="http://schemas.microsoft.com/office/drawing/2014/main" id="{F3F47233-2B0D-4352-7CE1-3E78DEF8DB5C}"/>
              </a:ext>
            </a:extLst>
          </p:cNvPr>
          <p:cNvSpPr/>
          <p:nvPr/>
        </p:nvSpPr>
        <p:spPr>
          <a:xfrm rot="20142416">
            <a:off x="13182071" y="8907509"/>
            <a:ext cx="8092156" cy="5820146"/>
          </a:xfrm>
          <a:prstGeom prst="doubleWav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8" name="Double Wave 57">
            <a:extLst>
              <a:ext uri="{FF2B5EF4-FFF2-40B4-BE49-F238E27FC236}">
                <a16:creationId xmlns:a16="http://schemas.microsoft.com/office/drawing/2014/main" id="{386FA78E-D741-80D5-A66F-9FF72CDABE4D}"/>
              </a:ext>
            </a:extLst>
          </p:cNvPr>
          <p:cNvSpPr/>
          <p:nvPr/>
        </p:nvSpPr>
        <p:spPr>
          <a:xfrm rot="20142416">
            <a:off x="13334471" y="9059909"/>
            <a:ext cx="8092156" cy="5820146"/>
          </a:xfrm>
          <a:prstGeom prst="doubleWav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9" name="Double Wave 58">
            <a:extLst>
              <a:ext uri="{FF2B5EF4-FFF2-40B4-BE49-F238E27FC236}">
                <a16:creationId xmlns:a16="http://schemas.microsoft.com/office/drawing/2014/main" id="{1B8CCDEF-B229-9D0D-8ED2-862080641C2D}"/>
              </a:ext>
            </a:extLst>
          </p:cNvPr>
          <p:cNvSpPr/>
          <p:nvPr/>
        </p:nvSpPr>
        <p:spPr>
          <a:xfrm rot="20142416">
            <a:off x="13486871" y="9212309"/>
            <a:ext cx="8092156" cy="5820146"/>
          </a:xfrm>
          <a:prstGeom prst="doubleWav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60" name="Double Wave 59">
            <a:extLst>
              <a:ext uri="{FF2B5EF4-FFF2-40B4-BE49-F238E27FC236}">
                <a16:creationId xmlns:a16="http://schemas.microsoft.com/office/drawing/2014/main" id="{A38CC701-3E28-425E-A4E0-54D84E0FC5D7}"/>
              </a:ext>
            </a:extLst>
          </p:cNvPr>
          <p:cNvSpPr/>
          <p:nvPr/>
        </p:nvSpPr>
        <p:spPr>
          <a:xfrm rot="20142416">
            <a:off x="13639271" y="9364709"/>
            <a:ext cx="8092156" cy="5820146"/>
          </a:xfrm>
          <a:prstGeom prst="doubleWav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A814BD2-EDE2-7C73-340A-5F319FA34B0D}"/>
              </a:ext>
            </a:extLst>
          </p:cNvPr>
          <p:cNvSpPr/>
          <p:nvPr/>
        </p:nvSpPr>
        <p:spPr>
          <a:xfrm>
            <a:off x="1846580" y="2192017"/>
            <a:ext cx="4630420" cy="57531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95BDDC8-3E70-6397-71F1-D660DEE022B0}"/>
              </a:ext>
            </a:extLst>
          </p:cNvPr>
          <p:cNvSpPr/>
          <p:nvPr/>
        </p:nvSpPr>
        <p:spPr>
          <a:xfrm>
            <a:off x="1672980" y="2192017"/>
            <a:ext cx="4630420" cy="575310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C34FF9F-6D00-E122-FBC8-6D60B60626DC}"/>
              </a:ext>
            </a:extLst>
          </p:cNvPr>
          <p:cNvSpPr/>
          <p:nvPr/>
        </p:nvSpPr>
        <p:spPr>
          <a:xfrm>
            <a:off x="7020265" y="2192017"/>
            <a:ext cx="4630420" cy="57531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890977-E5B2-A05D-9C33-77C55968365A}"/>
              </a:ext>
            </a:extLst>
          </p:cNvPr>
          <p:cNvSpPr/>
          <p:nvPr/>
        </p:nvSpPr>
        <p:spPr>
          <a:xfrm>
            <a:off x="6846665" y="2192017"/>
            <a:ext cx="4630420" cy="575310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2E561C-9606-7778-8A9E-7C5D4F1F3CB7}"/>
              </a:ext>
            </a:extLst>
          </p:cNvPr>
          <p:cNvSpPr/>
          <p:nvPr/>
        </p:nvSpPr>
        <p:spPr>
          <a:xfrm>
            <a:off x="12193951" y="2199637"/>
            <a:ext cx="4630420" cy="57531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51B797-090C-EC55-652B-8583884F1EFD}"/>
              </a:ext>
            </a:extLst>
          </p:cNvPr>
          <p:cNvSpPr/>
          <p:nvPr/>
        </p:nvSpPr>
        <p:spPr>
          <a:xfrm>
            <a:off x="12020351" y="2199637"/>
            <a:ext cx="4630420" cy="575310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E64790A9-8679-D42C-D796-1A3D7E07C8EB}"/>
              </a:ext>
            </a:extLst>
          </p:cNvPr>
          <p:cNvSpPr txBox="1"/>
          <p:nvPr/>
        </p:nvSpPr>
        <p:spPr>
          <a:xfrm>
            <a:off x="521090" y="3943366"/>
            <a:ext cx="6934200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1080+ </a:t>
            </a:r>
          </a:p>
          <a:p>
            <a:pPr algn="ctr"/>
            <a:r>
              <a:rPr lang="en-US" sz="66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events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EB70C69C-616A-FDF5-F01A-E2BA049A399C}"/>
              </a:ext>
            </a:extLst>
          </p:cNvPr>
          <p:cNvSpPr txBox="1"/>
          <p:nvPr/>
        </p:nvSpPr>
        <p:spPr>
          <a:xfrm>
            <a:off x="551570" y="6560161"/>
            <a:ext cx="69342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In 2024</a:t>
            </a:r>
            <a:br>
              <a:rPr lang="en-US" sz="20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</a:br>
            <a:r>
              <a:rPr lang="en-US" sz="20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Oxford Business Group + Visit Qatar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5F734B5C-99BF-A98E-1C70-804E0B605E6A}"/>
              </a:ext>
            </a:extLst>
          </p:cNvPr>
          <p:cNvSpPr txBox="1"/>
          <p:nvPr/>
        </p:nvSpPr>
        <p:spPr>
          <a:xfrm>
            <a:off x="7998556" y="3238500"/>
            <a:ext cx="2741058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94%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4BBBB814-5227-2C0D-EFF6-2071F9DE990D}"/>
              </a:ext>
            </a:extLst>
          </p:cNvPr>
          <p:cNvSpPr txBox="1"/>
          <p:nvPr/>
        </p:nvSpPr>
        <p:spPr>
          <a:xfrm>
            <a:off x="7998556" y="5042237"/>
            <a:ext cx="2741058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49%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F86CBD37-DB72-9C3C-0DA4-589D3CA2DA89}"/>
              </a:ext>
            </a:extLst>
          </p:cNvPr>
          <p:cNvSpPr/>
          <p:nvPr/>
        </p:nvSpPr>
        <p:spPr>
          <a:xfrm>
            <a:off x="9221175" y="4318101"/>
            <a:ext cx="228600" cy="50783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E218CD2C-A805-55BB-B099-B87B5740CF83}"/>
              </a:ext>
            </a:extLst>
          </p:cNvPr>
          <p:cNvSpPr txBox="1"/>
          <p:nvPr/>
        </p:nvSpPr>
        <p:spPr>
          <a:xfrm>
            <a:off x="5901985" y="6454988"/>
            <a:ext cx="6934200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Hotel occupancy drop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A0EE8FB0-D091-B19B-6C51-E9807EC490EA}"/>
              </a:ext>
            </a:extLst>
          </p:cNvPr>
          <p:cNvSpPr txBox="1"/>
          <p:nvPr/>
        </p:nvSpPr>
        <p:spPr>
          <a:xfrm>
            <a:off x="11042061" y="3718316"/>
            <a:ext cx="69342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Static</a:t>
            </a:r>
          </a:p>
          <a:p>
            <a:pPr algn="ctr"/>
            <a:r>
              <a:rPr lang="en-US" sz="48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One Shot</a:t>
            </a:r>
          </a:p>
          <a:p>
            <a:pPr algn="ctr"/>
            <a:r>
              <a:rPr lang="en-US" sz="4800" b="1" spc="-15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Impersonal</a:t>
            </a:r>
          </a:p>
        </p:txBody>
      </p:sp>
    </p:spTree>
    <p:extLst>
      <p:ext uri="{BB962C8B-B14F-4D97-AF65-F5344CB8AC3E}">
        <p14:creationId xmlns:p14="http://schemas.microsoft.com/office/powerpoint/2010/main" val="1712127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6" grpId="0" animBg="1"/>
      <p:bldP spid="16" grpId="1" animBg="1"/>
      <p:bldP spid="16" grpId="2" animBg="1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29B1F-8E68-8EB8-9286-1767C458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41">
            <a:extLst>
              <a:ext uri="{FF2B5EF4-FFF2-40B4-BE49-F238E27FC236}">
                <a16:creationId xmlns:a16="http://schemas.microsoft.com/office/drawing/2014/main" id="{81EC7485-2E36-CD79-499D-8908C525661D}"/>
              </a:ext>
            </a:extLst>
          </p:cNvPr>
          <p:cNvSpPr/>
          <p:nvPr/>
        </p:nvSpPr>
        <p:spPr>
          <a:xfrm>
            <a:off x="15697200" y="-876300"/>
            <a:ext cx="2971800" cy="25146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2790C0A-353E-8197-081A-7A077E34FECD}"/>
              </a:ext>
            </a:extLst>
          </p:cNvPr>
          <p:cNvSpPr/>
          <p:nvPr/>
        </p:nvSpPr>
        <p:spPr>
          <a:xfrm>
            <a:off x="-1430020" y="-1389380"/>
            <a:ext cx="3886200" cy="367538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C0B5A55-99B4-522A-B948-2897A351A4F3}"/>
              </a:ext>
            </a:extLst>
          </p:cNvPr>
          <p:cNvSpPr/>
          <p:nvPr/>
        </p:nvSpPr>
        <p:spPr>
          <a:xfrm>
            <a:off x="-1734820" y="-1676400"/>
            <a:ext cx="3886200" cy="36753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C9D4F94-9625-A51B-2018-CEC04CE63CDC}"/>
              </a:ext>
            </a:extLst>
          </p:cNvPr>
          <p:cNvSpPr/>
          <p:nvPr/>
        </p:nvSpPr>
        <p:spPr>
          <a:xfrm>
            <a:off x="-2039620" y="-1951990"/>
            <a:ext cx="3886200" cy="367538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68A74BB-3D77-15FD-0451-85DFCA9BDDF7}"/>
              </a:ext>
            </a:extLst>
          </p:cNvPr>
          <p:cNvSpPr/>
          <p:nvPr/>
        </p:nvSpPr>
        <p:spPr>
          <a:xfrm>
            <a:off x="-2209800" y="-2199640"/>
            <a:ext cx="3886200" cy="36753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  <p:sp>
        <p:nvSpPr>
          <p:cNvPr id="2" name="TextBox 38">
            <a:extLst>
              <a:ext uri="{FF2B5EF4-FFF2-40B4-BE49-F238E27FC236}">
                <a16:creationId xmlns:a16="http://schemas.microsoft.com/office/drawing/2014/main" id="{1A3914D4-049C-FCDD-8C69-A06EE5D80A62}"/>
              </a:ext>
            </a:extLst>
          </p:cNvPr>
          <p:cNvSpPr txBox="1"/>
          <p:nvPr/>
        </p:nvSpPr>
        <p:spPr>
          <a:xfrm>
            <a:off x="2117948" y="2875052"/>
            <a:ext cx="14935200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958"/>
              </a:lnSpc>
            </a:pPr>
            <a:r>
              <a:rPr lang="en-US" sz="15000" b="1" spc="-300" dirty="0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Fanar</a:t>
            </a:r>
            <a:r>
              <a:rPr lang="en-US" sz="9600" b="1" spc="-300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 </a:t>
            </a:r>
            <a:r>
              <a:rPr lang="en-US" sz="7200" b="1" spc="-300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lights the way</a:t>
            </a:r>
          </a:p>
        </p:txBody>
      </p:sp>
      <p:sp>
        <p:nvSpPr>
          <p:cNvPr id="4" name="TextBox 38">
            <a:extLst>
              <a:ext uri="{FF2B5EF4-FFF2-40B4-BE49-F238E27FC236}">
                <a16:creationId xmlns:a16="http://schemas.microsoft.com/office/drawing/2014/main" id="{47971488-1DAB-87A8-8AB6-102F4633FE00}"/>
              </a:ext>
            </a:extLst>
          </p:cNvPr>
          <p:cNvSpPr txBox="1"/>
          <p:nvPr/>
        </p:nvSpPr>
        <p:spPr>
          <a:xfrm>
            <a:off x="2973928" y="5078056"/>
            <a:ext cx="15953943" cy="1923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958"/>
              </a:lnSpc>
            </a:pPr>
            <a:r>
              <a:rPr lang="en-US" sz="15000" b="1" spc="-3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Qaarib</a:t>
            </a:r>
            <a:r>
              <a:rPr lang="en-US" sz="9600" b="1" spc="-300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 </a:t>
            </a:r>
            <a:r>
              <a:rPr lang="en-US" sz="7200" b="1" spc="-300" dirty="0">
                <a:solidFill>
                  <a:schemeClr val="tx2">
                    <a:lumMod val="40000"/>
                    <a:lumOff val="60000"/>
                  </a:schemeClr>
                </a:solidFill>
                <a:latin typeface="Poppins Heavy"/>
                <a:ea typeface="Poppins Heavy"/>
                <a:cs typeface="Poppins Heavy"/>
                <a:sym typeface="Poppins Heavy"/>
              </a:rPr>
              <a:t>opens the door</a:t>
            </a:r>
          </a:p>
        </p:txBody>
      </p:sp>
      <p:sp>
        <p:nvSpPr>
          <p:cNvPr id="5" name="Double Wave 4">
            <a:extLst>
              <a:ext uri="{FF2B5EF4-FFF2-40B4-BE49-F238E27FC236}">
                <a16:creationId xmlns:a16="http://schemas.microsoft.com/office/drawing/2014/main" id="{17A1666E-0517-AC39-69E7-626AD00C2836}"/>
              </a:ext>
            </a:extLst>
          </p:cNvPr>
          <p:cNvSpPr>
            <a:spLocks/>
          </p:cNvSpPr>
          <p:nvPr/>
        </p:nvSpPr>
        <p:spPr>
          <a:xfrm rot="10800000">
            <a:off x="11514838" y="8162553"/>
            <a:ext cx="16554446" cy="5820146"/>
          </a:xfrm>
          <a:prstGeom prst="doubleWav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6" name="Double Wave 5">
            <a:extLst>
              <a:ext uri="{FF2B5EF4-FFF2-40B4-BE49-F238E27FC236}">
                <a16:creationId xmlns:a16="http://schemas.microsoft.com/office/drawing/2014/main" id="{197BBD6E-08A4-0FD9-DDDF-CAF082B3953C}"/>
              </a:ext>
            </a:extLst>
          </p:cNvPr>
          <p:cNvSpPr/>
          <p:nvPr/>
        </p:nvSpPr>
        <p:spPr>
          <a:xfrm rot="10800000">
            <a:off x="13735046" y="8104577"/>
            <a:ext cx="13963646" cy="5820146"/>
          </a:xfrm>
          <a:prstGeom prst="doubleWav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7" name="Double Wave 6">
            <a:extLst>
              <a:ext uri="{FF2B5EF4-FFF2-40B4-BE49-F238E27FC236}">
                <a16:creationId xmlns:a16="http://schemas.microsoft.com/office/drawing/2014/main" id="{83C0B825-741C-7CAA-3E4E-B1180889E83B}"/>
              </a:ext>
            </a:extLst>
          </p:cNvPr>
          <p:cNvSpPr>
            <a:spLocks/>
          </p:cNvSpPr>
          <p:nvPr/>
        </p:nvSpPr>
        <p:spPr>
          <a:xfrm rot="10800000">
            <a:off x="-4895846" y="8078599"/>
            <a:ext cx="16554446" cy="5820146"/>
          </a:xfrm>
          <a:prstGeom prst="doubleWav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8" name="Double Wave 7">
            <a:extLst>
              <a:ext uri="{FF2B5EF4-FFF2-40B4-BE49-F238E27FC236}">
                <a16:creationId xmlns:a16="http://schemas.microsoft.com/office/drawing/2014/main" id="{33A2A5D8-9766-B055-AB3B-A491E4B3711B}"/>
              </a:ext>
            </a:extLst>
          </p:cNvPr>
          <p:cNvSpPr/>
          <p:nvPr/>
        </p:nvSpPr>
        <p:spPr>
          <a:xfrm rot="10800000">
            <a:off x="-190500" y="8139612"/>
            <a:ext cx="13963646" cy="5820146"/>
          </a:xfrm>
          <a:prstGeom prst="doubleWav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9" name="Double Wave 8">
            <a:extLst>
              <a:ext uri="{FF2B5EF4-FFF2-40B4-BE49-F238E27FC236}">
                <a16:creationId xmlns:a16="http://schemas.microsoft.com/office/drawing/2014/main" id="{02307037-F9E7-C607-7E05-B809068CDAA1}"/>
              </a:ext>
            </a:extLst>
          </p:cNvPr>
          <p:cNvSpPr/>
          <p:nvPr/>
        </p:nvSpPr>
        <p:spPr>
          <a:xfrm rot="10800000">
            <a:off x="-3195072" y="9376364"/>
            <a:ext cx="22154898" cy="5820146"/>
          </a:xfrm>
          <a:prstGeom prst="doubleWav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 dirty="0"/>
          </a:p>
        </p:txBody>
      </p:sp>
      <p:sp>
        <p:nvSpPr>
          <p:cNvPr id="10" name="Double Wave 9">
            <a:extLst>
              <a:ext uri="{FF2B5EF4-FFF2-40B4-BE49-F238E27FC236}">
                <a16:creationId xmlns:a16="http://schemas.microsoft.com/office/drawing/2014/main" id="{3AC07593-D7B8-2612-F377-173F8ADB0ABC}"/>
              </a:ext>
            </a:extLst>
          </p:cNvPr>
          <p:cNvSpPr/>
          <p:nvPr/>
        </p:nvSpPr>
        <p:spPr>
          <a:xfrm rot="10800000">
            <a:off x="-1189991" y="9838953"/>
            <a:ext cx="22154898" cy="5820146"/>
          </a:xfrm>
          <a:prstGeom prst="doubleWav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QA"/>
          </a:p>
        </p:txBody>
      </p:sp>
    </p:spTree>
    <p:extLst>
      <p:ext uri="{BB962C8B-B14F-4D97-AF65-F5344CB8AC3E}">
        <p14:creationId xmlns:p14="http://schemas.microsoft.com/office/powerpoint/2010/main" val="2457686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41</Words>
  <Application>Microsoft Macintosh PowerPoint</Application>
  <PresentationFormat>Custom</PresentationFormat>
  <Paragraphs>15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Ramis Arabic TRIAL Medium</vt:lpstr>
      <vt:lpstr>Poppins Heavy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Black Bold Pitch Deck Presentation</dc:title>
  <cp:lastModifiedBy>Muhammad Ahmad</cp:lastModifiedBy>
  <cp:revision>4</cp:revision>
  <dcterms:created xsi:type="dcterms:W3CDTF">2006-08-16T00:00:00Z</dcterms:created>
  <dcterms:modified xsi:type="dcterms:W3CDTF">2026-06-27T10:28:48Z</dcterms:modified>
  <dc:identifier>DAHNv1ugZGQ</dc:identifier>
</cp:coreProperties>
</file>